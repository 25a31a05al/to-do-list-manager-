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9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defTabSz="914400" fontAlgn="base" hangingPunct="0"/>
    <a:lvl2pPr defTabSz="914400" fontAlgn="base" hangingPunct="0"/>
    <a:lvl3pPr defTabSz="914400" fontAlgn="base" hangingPunct="0"/>
    <a:lvl4pPr defTabSz="914400" fontAlgn="base" hangingPunct="0"/>
    <a:lvl5pPr defTabSz="914400" fontAlgn="base" hangingPunct="0"/>
    <a:lvl6pPr defTabSz="914400" fontAlgn="base" hangingPunct="0"/>
    <a:lvl7pPr defTabSz="914400" fontAlgn="base" hangingPunct="0"/>
    <a:lvl8pPr defTabSz="914400" fontAlgn="base" hangingPunct="0"/>
    <a:lvl9pPr defTabSz="914400" fontAlgn="base" hangingPunct="0"/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>
        <p:scale>
          <a:sx n="57" d="100"/>
          <a:sy n="57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&lt;#&gt;</a:t>
            </a:fld>
            <a:endParaRPr lang="zh-CN" altLang="en-US" sz="1200"/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/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/>
              <a:t>4/15/2026</a:t>
            </a:fld>
            <a:endParaRPr lang="zh-CN" altLang="en-US" sz="1200"/>
          </a:p>
        </p:txBody>
      </p:sp>
      <p:sp>
        <p:nvSpPr>
          <p:cNvPr id="4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642993671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1</a:t>
            </a:fld>
            <a:endParaRPr lang="zh-CN" altLang="en-US" sz="1200"/>
          </a:p>
        </p:txBody>
      </p:sp>
      <p:sp>
        <p:nvSpPr>
          <p:cNvPr id="1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239889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2</a:t>
            </a:fld>
            <a:endParaRPr lang="zh-CN" altLang="en-US" sz="1200"/>
          </a:p>
        </p:txBody>
      </p:sp>
      <p:sp>
        <p:nvSpPr>
          <p:cNvPr id="3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822653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3</a:t>
            </a:fld>
            <a:endParaRPr lang="zh-CN" altLang="en-US" sz="1200"/>
          </a:p>
        </p:txBody>
      </p:sp>
      <p:sp>
        <p:nvSpPr>
          <p:cNvPr id="4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55639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4</a:t>
            </a:fld>
            <a:endParaRPr lang="zh-CN" altLang="en-US" sz="1200"/>
          </a:p>
        </p:txBody>
      </p:sp>
      <p:sp>
        <p:nvSpPr>
          <p:cNvPr id="80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81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073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5</a:t>
            </a:fld>
            <a:endParaRPr lang="zh-CN" altLang="en-US" sz="1200"/>
          </a:p>
        </p:txBody>
      </p:sp>
      <p:sp>
        <p:nvSpPr>
          <p:cNvPr id="102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3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14457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6</a:t>
            </a:fld>
            <a:endParaRPr lang="zh-CN" altLang="en-US" sz="1200"/>
          </a:p>
        </p:txBody>
      </p:sp>
      <p:sp>
        <p:nvSpPr>
          <p:cNvPr id="12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93616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7</a:t>
            </a:fld>
            <a:endParaRPr lang="zh-CN" altLang="en-US" sz="1200"/>
          </a:p>
        </p:txBody>
      </p:sp>
      <p:sp>
        <p:nvSpPr>
          <p:cNvPr id="133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4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381504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8</a:t>
            </a:fld>
            <a:endParaRPr lang="zh-CN" altLang="en-US" sz="1200"/>
          </a:p>
        </p:txBody>
      </p:sp>
      <p:sp>
        <p:nvSpPr>
          <p:cNvPr id="14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077317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9</a:t>
            </a:fld>
            <a:endParaRPr lang="zh-CN" altLang="en-US" sz="1200"/>
          </a:p>
        </p:txBody>
      </p:sp>
      <p:sp>
        <p:nvSpPr>
          <p:cNvPr id="156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7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654762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0" cap="none" spc="0" baseline="0">
                <a:latin typeface="Droid Sans"/>
                <a:ea typeface="Droid Sans"/>
                <a:cs typeface="Lucida Sans"/>
              </a:rPr>
              <a:t>10</a:t>
            </a:fld>
            <a:endParaRPr lang="zh-CN" altLang="en-US" sz="1200"/>
          </a:p>
        </p:txBody>
      </p:sp>
      <p:sp>
        <p:nvSpPr>
          <p:cNvPr id="17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278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8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9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10.png"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097280" y="2556510"/>
            <a:ext cx="12435840" cy="17640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4663440"/>
            <a:ext cx="10241280" cy="210312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4717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765777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3110697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62596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935511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80203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934183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0637328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1679631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52546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84235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0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28359304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20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27815466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3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40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39396382"/>
      </p:ext>
    </p:extLst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6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47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48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36719985"/>
      </p:ext>
    </p:extLst>
  </p:cSld>
  <p:clrMapOvr>
    <a:masterClrMapping xmlns:a="http://schemas.openxmlformats.org/drawingml/2006/main"/>
  </p:clrMapOvr>
</p:sldLayout>
</file>

<file path=ppt/slideLayouts/slideLayout16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8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83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84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73269275"/>
      </p:ext>
    </p:extLst>
  </p:cSld>
  <p:clrMapOvr>
    <a:masterClrMapping xmlns:a="http://schemas.openxmlformats.org/drawingml/2006/main"/>
  </p:clrMapOvr>
</p:sldLayout>
</file>

<file path=ppt/slideLayouts/slideLayout17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05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06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44736560"/>
      </p:ext>
    </p:extLst>
  </p:cSld>
  <p:clrMapOvr>
    <a:masterClrMapping xmlns:a="http://schemas.openxmlformats.org/drawingml/2006/main"/>
  </p:clrMapOvr>
</p:sldLayout>
</file>

<file path=ppt/slideLayouts/slideLayout18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23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2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25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53734084"/>
      </p:ext>
    </p:extLst>
  </p:cSld>
  <p:clrMapOvr>
    <a:masterClrMapping xmlns:a="http://schemas.openxmlformats.org/drawingml/2006/main"/>
  </p:clrMapOvr>
</p:sldLayout>
</file>

<file path=ppt/slideLayouts/slideLayout19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35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36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37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77750241"/>
      </p:ext>
    </p:extLst>
  </p:cSld>
  <p:clrMapOvr>
    <a:masterClrMapping xmlns:a="http://schemas.openxmlformats.org/drawingml/2006/main"/>
  </p:clrMapOvr>
</p:sldLayout>
</file>

<file path=ppt/slideLayouts/slideLayout20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4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4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50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700066882"/>
      </p:ext>
    </p:extLst>
  </p:cSld>
  <p:clrMapOvr>
    <a:masterClrMapping xmlns:a="http://schemas.openxmlformats.org/drawingml/2006/main"/>
  </p:clrMapOvr>
</p:sldLayout>
</file>

<file path=ppt/slideLayouts/slideLayout21.xml><?xml version="1.0" encoding="utf-8"?>
<p:sldLayout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5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2E4CF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sp>
        <p:nvSpPr>
          <p:cNvPr id="159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0" y="0"/>
            <a:ext cx="14630401" cy="8229600"/>
          </a:xfrm>
          <a:prstGeom xmlns:a="http://schemas.openxmlformats.org/drawingml/2006/main" prst="rect"/>
          <a:solidFill xmlns:a="http://schemas.openxmlformats.org/drawingml/2006/main">
            <a:srgbClr val="FEF5E7"/>
          </a:solidFill>
          <a:ln xmlns:a="http://schemas.openxmlformats.org/drawingml/2006/main" w="12700" cmpd="sng" cap="flat">
            <a:noFill/>
            <a:prstDash val="solid"/>
            <a:miter/>
          </a:ln>
        </p:spPr>
      </p:sp>
      <p:pic>
        <p:nvPicPr>
          <p:cNvPr id="160" name="图片" descr="preencoded.png">
            <a:hlinkClick xmlns:a="http://schemas.openxmlformats.org/drawingml/2006/main" xmlns:r="http://schemas.openxmlformats.org/officeDocument/2006/relationships" r:id="rId2"/>
          </p:cNvPr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3" cstate="print"/>
          <a:stretch xmlns:a="http://schemas.openxmlformats.org/drawingml/2006/main">
            <a:fillRect/>
          </a:stretch>
        </p:blipFill>
        <p:spPr>
          <a:xfrm xmlns:a="http://schemas.openxmlformats.org/drawingml/2006/main" rot="0">
            <a:off x="12839215" y="7749539"/>
            <a:ext cx="1722604" cy="41148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4326019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05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13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12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14.png"/><Relationship Id="rId2" Type="http://schemas.openxmlformats.org/officeDocument/2006/relationships/image" Target="../media/15.png"/><Relationship Id="rId3" Type="http://schemas.openxmlformats.org/officeDocument/2006/relationships/image" Target="../media/16.png"/><Relationship Id="rId4" Type="http://schemas.openxmlformats.org/officeDocument/2006/relationships/image" Target="../media/17.png"/><Relationship Id="rId5" Type="http://schemas.openxmlformats.org/officeDocument/2006/relationships/image" Target="../media/18.png"/><Relationship Id="rId6" Type="http://schemas.openxmlformats.org/officeDocument/2006/relationships/image" Target="../media/19.png"/><Relationship Id="rId7" Type="http://schemas.openxmlformats.org/officeDocument/2006/relationships/image" Target="../media/12.jpeg"/><Relationship Id="rId8" Type="http://schemas.openxmlformats.org/officeDocument/2006/relationships/slideLayout" Target="../slideLayouts/slideLayout1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0.png"/><Relationship Id="rId2" Type="http://schemas.openxmlformats.org/officeDocument/2006/relationships/image" Target="../media/21.png"/><Relationship Id="rId3" Type="http://schemas.openxmlformats.org/officeDocument/2006/relationships/image" Target="../media/22.png"/><Relationship Id="rId4" Type="http://schemas.openxmlformats.org/officeDocument/2006/relationships/image" Target="../media/23.png"/><Relationship Id="rId5" Type="http://schemas.openxmlformats.org/officeDocument/2006/relationships/image" Target="../media/12.jpe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4.png"/><Relationship Id="rId2" Type="http://schemas.openxmlformats.org/officeDocument/2006/relationships/image" Target="../media/12.jpe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5.png"/><Relationship Id="rId2" Type="http://schemas.openxmlformats.org/officeDocument/2006/relationships/image" Target="../media/12.jpeg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2.jpe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2.jpe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0" y="0"/>
            <a:ext cx="5486400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" name="矩形"/>
          <p:cNvSpPr>
            <a:spLocks/>
          </p:cNvSpPr>
          <p:nvPr/>
        </p:nvSpPr>
        <p:spPr>
          <a:xfrm rot="0">
            <a:off x="837724" y="2840712"/>
            <a:ext cx="5632490" cy="7040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To-Do List Manager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837724" y="3903702"/>
            <a:ext cx="7468553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 beginner-friendly C++ application for organizing, tracking, and managing daily tasks efficiently.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" name="圆角矩形"/>
          <p:cNvSpPr>
            <a:spLocks/>
          </p:cNvSpPr>
          <p:nvPr/>
        </p:nvSpPr>
        <p:spPr>
          <a:xfrm rot="0">
            <a:off x="837724" y="4938951"/>
            <a:ext cx="1896189" cy="449818"/>
          </a:xfrm>
          <a:prstGeom prst="roundRect">
            <a:avLst>
              <a:gd name="adj" fmla="val 6384"/>
            </a:avLst>
          </a:prstGeom>
          <a:solidFill>
            <a:srgbClr val="E2ECDF"/>
          </a:solidFill>
          <a:ln w="12700" cmpd="sng" cap="flat">
            <a:noFill/>
            <a:prstDash val="solid"/>
            <a:miter/>
          </a:ln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981313" y="5010745"/>
            <a:ext cx="1609011" cy="3062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ACADEMIC PROJECT</a:t>
            </a:r>
            <a:endParaRPr lang="zh-CN" altLang="en-US" sz="15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9815598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"/>
          <p:cNvSpPr>
            <a:spLocks/>
          </p:cNvSpPr>
          <p:nvPr/>
        </p:nvSpPr>
        <p:spPr>
          <a:xfrm rot="0">
            <a:off x="837724" y="1826062"/>
            <a:ext cx="749141" cy="465057"/>
          </a:xfrm>
          <a:prstGeom prst="roundRect">
            <a:avLst>
              <a:gd name="adj" fmla="val 6175"/>
            </a:avLst>
          </a:prstGeom>
          <a:noFill/>
          <a:ln w="7620" cmpd="sng" cap="flat">
            <a:solidFill>
              <a:srgbClr val="38512F"/>
            </a:solidFill>
            <a:prstDash val="solid"/>
            <a:round/>
          </a:ln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988933" y="1905475"/>
            <a:ext cx="446723" cy="3062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38512F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TEAM</a:t>
            </a:r>
            <a:endParaRPr lang="zh-CN" altLang="en-US" sz="15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837724" y="2386846"/>
            <a:ext cx="5632490" cy="7040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Meet the Team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24" name="圆角矩形"/>
          <p:cNvSpPr>
            <a:spLocks/>
          </p:cNvSpPr>
          <p:nvPr/>
        </p:nvSpPr>
        <p:spPr>
          <a:xfrm rot="0">
            <a:off x="837724" y="3449836"/>
            <a:ext cx="6357818" cy="1357193"/>
          </a:xfrm>
          <a:prstGeom prst="roundRect">
            <a:avLst>
              <a:gd name="adj" fmla="val 2648"/>
            </a:avLst>
          </a:prstGeom>
          <a:solidFill>
            <a:srgbClr val="F3E7D4"/>
          </a:solidFill>
          <a:ln w="12700" cmpd="sng" cap="flat">
            <a:noFill/>
            <a:prstDash val="solid"/>
            <a:miter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1077039" y="3689151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I Navya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1077039" y="4184690"/>
            <a:ext cx="5879187" cy="383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25A31A0578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27" name="圆角矩形"/>
          <p:cNvSpPr>
            <a:spLocks/>
          </p:cNvSpPr>
          <p:nvPr/>
        </p:nvSpPr>
        <p:spPr>
          <a:xfrm rot="0">
            <a:off x="7434858" y="3449836"/>
            <a:ext cx="6357818" cy="1357193"/>
          </a:xfrm>
          <a:prstGeom prst="roundRect">
            <a:avLst>
              <a:gd name="adj" fmla="val 2648"/>
            </a:avLst>
          </a:prstGeom>
          <a:solidFill>
            <a:srgbClr val="F3E7D4"/>
          </a:solidFill>
          <a:ln w="12700" cmpd="sng" cap="flat">
            <a:noFill/>
            <a:prstDash val="solid"/>
            <a:miter/>
          </a:ln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7674172" y="3689151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K Venkata Adilakshmi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7674172" y="4184690"/>
            <a:ext cx="5879186" cy="383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25A31A0580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30" name="圆角矩形"/>
          <p:cNvSpPr>
            <a:spLocks/>
          </p:cNvSpPr>
          <p:nvPr/>
        </p:nvSpPr>
        <p:spPr>
          <a:xfrm rot="0">
            <a:off x="837724" y="5046344"/>
            <a:ext cx="6357818" cy="1357193"/>
          </a:xfrm>
          <a:prstGeom prst="roundRect">
            <a:avLst>
              <a:gd name="adj" fmla="val 2648"/>
            </a:avLst>
          </a:prstGeom>
          <a:solidFill>
            <a:srgbClr val="F3E7D4"/>
          </a:solidFill>
          <a:ln w="12700" cmpd="sng" cap="flat">
            <a:noFill/>
            <a:prstDash val="solid"/>
            <a:miter/>
          </a:ln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1077039" y="5285661"/>
            <a:ext cx="2816185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K Venkata Thanvai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1077039" y="5781198"/>
            <a:ext cx="5879187" cy="383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25A31A05AL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33" name="圆角矩形"/>
          <p:cNvSpPr>
            <a:spLocks/>
          </p:cNvSpPr>
          <p:nvPr/>
        </p:nvSpPr>
        <p:spPr>
          <a:xfrm rot="0">
            <a:off x="7434858" y="5046344"/>
            <a:ext cx="6357818" cy="1357193"/>
          </a:xfrm>
          <a:prstGeom prst="roundRect">
            <a:avLst>
              <a:gd name="adj" fmla="val 2648"/>
            </a:avLst>
          </a:prstGeom>
          <a:solidFill>
            <a:srgbClr val="F3E7D4"/>
          </a:solidFill>
          <a:ln w="12700" cmpd="sng" cap="flat">
            <a:noFill/>
            <a:prstDash val="solid"/>
            <a:miter/>
          </a:ln>
        </p:spPr>
      </p:sp>
      <p:sp>
        <p:nvSpPr>
          <p:cNvPr id="34" name="矩形"/>
          <p:cNvSpPr>
            <a:spLocks/>
          </p:cNvSpPr>
          <p:nvPr/>
        </p:nvSpPr>
        <p:spPr>
          <a:xfrm rot="0">
            <a:off x="7674172" y="5285661"/>
            <a:ext cx="2816185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M Santhosh Kumar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7674172" y="5781198"/>
            <a:ext cx="5879186" cy="383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25A31A05AM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77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148072">
            <a:off x="12627166" y="7697646"/>
            <a:ext cx="1979459" cy="47160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93670723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144000" y="0"/>
            <a:ext cx="5486400" cy="82296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2" name="矩形"/>
          <p:cNvSpPr>
            <a:spLocks/>
          </p:cNvSpPr>
          <p:nvPr/>
        </p:nvSpPr>
        <p:spPr>
          <a:xfrm rot="0">
            <a:off x="837724" y="2817257"/>
            <a:ext cx="5632490" cy="70401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Introduction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837724" y="3880247"/>
            <a:ext cx="7468553" cy="15320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 </a:t>
            </a:r>
            <a:r>
              <a:rPr lang="en-US" altLang="zh-CN" sz="1850" b="1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To-Do List Manager</a:t>
            </a: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is a simple yet powerful application designed to help users organize and manage their daily tasks efficiently. It empowers users to add, update, delete, and track tasks — turning a chaotic schedule into a structured, productive workflow.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32358080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>
            <a:spLocks/>
          </p:cNvSpPr>
          <p:nvPr/>
        </p:nvSpPr>
        <p:spPr>
          <a:xfrm rot="0">
            <a:off x="837724" y="723424"/>
            <a:ext cx="5632490" cy="7040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Project Objectives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50" name="圆角矩形"/>
          <p:cNvSpPr>
            <a:spLocks/>
          </p:cNvSpPr>
          <p:nvPr/>
        </p:nvSpPr>
        <p:spPr>
          <a:xfrm rot="0">
            <a:off x="837724" y="2265164"/>
            <a:ext cx="4158734" cy="2512814"/>
          </a:xfrm>
          <a:prstGeom prst="roundRect">
            <a:avLst>
              <a:gd name="adj" fmla="val 5824"/>
            </a:avLst>
          </a:prstGeom>
          <a:solidFill>
            <a:srgbClr val="FEF5E7"/>
          </a:solidFill>
          <a:ln w="12700" cmpd="sng" cap="flat">
            <a:noFill/>
            <a:prstDash val="solid"/>
            <a:miter/>
          </a:ln>
        </p:spPr>
      </p:sp>
      <p:sp>
        <p:nvSpPr>
          <p:cNvPr id="51" name="圆角矩形"/>
          <p:cNvSpPr>
            <a:spLocks/>
          </p:cNvSpPr>
          <p:nvPr/>
        </p:nvSpPr>
        <p:spPr>
          <a:xfrm rot="0">
            <a:off x="837724" y="2234684"/>
            <a:ext cx="4158734" cy="121920"/>
          </a:xfrm>
          <a:prstGeom prst="roundRect">
            <a:avLst>
              <a:gd name="adj" fmla="val 29449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52" name="圆角矩形"/>
          <p:cNvSpPr>
            <a:spLocks/>
          </p:cNvSpPr>
          <p:nvPr/>
        </p:nvSpPr>
        <p:spPr>
          <a:xfrm rot="0">
            <a:off x="2557997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53" name="矩形"/>
          <p:cNvSpPr>
            <a:spLocks/>
          </p:cNvSpPr>
          <p:nvPr/>
        </p:nvSpPr>
        <p:spPr>
          <a:xfrm rot="0">
            <a:off x="2773382" y="2085737"/>
            <a:ext cx="287178" cy="35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1</a:t>
            </a:r>
            <a:endParaRPr lang="zh-CN" altLang="en-US" sz="22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1107519" y="2863572"/>
            <a:ext cx="3055382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Easy Task Management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1107519" y="3359110"/>
            <a:ext cx="3619143" cy="11490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Provide a straightforward way to manage daily tasks without complexity.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56" name="圆角矩形"/>
          <p:cNvSpPr>
            <a:spLocks/>
          </p:cNvSpPr>
          <p:nvPr/>
        </p:nvSpPr>
        <p:spPr>
          <a:xfrm rot="0">
            <a:off x="5235772" y="2265164"/>
            <a:ext cx="4158734" cy="2512814"/>
          </a:xfrm>
          <a:prstGeom prst="roundRect">
            <a:avLst>
              <a:gd name="adj" fmla="val 5824"/>
            </a:avLst>
          </a:prstGeom>
          <a:solidFill>
            <a:srgbClr val="FEF5E7"/>
          </a:solidFill>
          <a:ln w="12700" cmpd="sng" cap="flat">
            <a:noFill/>
            <a:prstDash val="solid"/>
            <a:miter/>
          </a:ln>
        </p:spPr>
      </p:sp>
      <p:sp>
        <p:nvSpPr>
          <p:cNvPr id="57" name="圆角矩形"/>
          <p:cNvSpPr>
            <a:spLocks/>
          </p:cNvSpPr>
          <p:nvPr/>
        </p:nvSpPr>
        <p:spPr>
          <a:xfrm rot="0">
            <a:off x="5235772" y="2234684"/>
            <a:ext cx="4158734" cy="121920"/>
          </a:xfrm>
          <a:prstGeom prst="roundRect">
            <a:avLst>
              <a:gd name="adj" fmla="val 29449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58" name="圆角矩形"/>
          <p:cNvSpPr>
            <a:spLocks/>
          </p:cNvSpPr>
          <p:nvPr/>
        </p:nvSpPr>
        <p:spPr>
          <a:xfrm rot="0">
            <a:off x="6956048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59" name="矩形"/>
          <p:cNvSpPr>
            <a:spLocks/>
          </p:cNvSpPr>
          <p:nvPr/>
        </p:nvSpPr>
        <p:spPr>
          <a:xfrm rot="0">
            <a:off x="7171432" y="2085737"/>
            <a:ext cx="287179" cy="35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2</a:t>
            </a:r>
            <a:endParaRPr lang="zh-CN" altLang="en-US" sz="22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5505569" y="2863572"/>
            <a:ext cx="2816184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Boost Productivity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5505569" y="3359110"/>
            <a:ext cx="3619143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Improve personal organization and time management habits.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2" name="圆角矩形"/>
          <p:cNvSpPr>
            <a:spLocks/>
          </p:cNvSpPr>
          <p:nvPr/>
        </p:nvSpPr>
        <p:spPr>
          <a:xfrm rot="0">
            <a:off x="9633823" y="2265164"/>
            <a:ext cx="4158853" cy="2512814"/>
          </a:xfrm>
          <a:prstGeom prst="roundRect">
            <a:avLst>
              <a:gd name="adj" fmla="val 5824"/>
            </a:avLst>
          </a:prstGeom>
          <a:solidFill>
            <a:srgbClr val="FEF5E7"/>
          </a:solidFill>
          <a:ln w="12700" cmpd="sng" cap="flat">
            <a:noFill/>
            <a:prstDash val="solid"/>
            <a:miter/>
          </a:ln>
        </p:spPr>
      </p:sp>
      <p:sp>
        <p:nvSpPr>
          <p:cNvPr id="63" name="圆角矩形"/>
          <p:cNvSpPr>
            <a:spLocks/>
          </p:cNvSpPr>
          <p:nvPr/>
        </p:nvSpPr>
        <p:spPr>
          <a:xfrm rot="0">
            <a:off x="9633823" y="2234684"/>
            <a:ext cx="4158853" cy="121920"/>
          </a:xfrm>
          <a:prstGeom prst="roundRect">
            <a:avLst>
              <a:gd name="adj" fmla="val 29449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64" name="圆角矩形"/>
          <p:cNvSpPr>
            <a:spLocks/>
          </p:cNvSpPr>
          <p:nvPr/>
        </p:nvSpPr>
        <p:spPr>
          <a:xfrm rot="0">
            <a:off x="11354218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65" name="矩形"/>
          <p:cNvSpPr>
            <a:spLocks/>
          </p:cNvSpPr>
          <p:nvPr/>
        </p:nvSpPr>
        <p:spPr>
          <a:xfrm rot="0">
            <a:off x="11569601" y="2085737"/>
            <a:ext cx="287179" cy="35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3</a:t>
            </a:r>
            <a:endParaRPr lang="zh-CN" altLang="en-US" sz="22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6" name="矩形"/>
          <p:cNvSpPr>
            <a:spLocks/>
          </p:cNvSpPr>
          <p:nvPr/>
        </p:nvSpPr>
        <p:spPr>
          <a:xfrm rot="0">
            <a:off x="9903619" y="2863572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Track Progress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7" name="矩形"/>
          <p:cNvSpPr>
            <a:spLocks/>
          </p:cNvSpPr>
          <p:nvPr/>
        </p:nvSpPr>
        <p:spPr>
          <a:xfrm rot="0">
            <a:off x="9903619" y="3359110"/>
            <a:ext cx="3619261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Allow users to monitor completed and pending tasks at a glance.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 rot="0">
            <a:off x="837724" y="5376267"/>
            <a:ext cx="6357818" cy="2129789"/>
          </a:xfrm>
          <a:prstGeom prst="roundRect">
            <a:avLst>
              <a:gd name="adj" fmla="val 6870"/>
            </a:avLst>
          </a:prstGeom>
          <a:solidFill>
            <a:srgbClr val="FEF5E7"/>
          </a:solidFill>
          <a:ln w="12700" cmpd="sng" cap="flat">
            <a:noFill/>
            <a:prstDash val="solid"/>
            <a:miter/>
          </a:ln>
        </p:spPr>
      </p:sp>
      <p:sp>
        <p:nvSpPr>
          <p:cNvPr id="69" name="圆角矩形"/>
          <p:cNvSpPr>
            <a:spLocks/>
          </p:cNvSpPr>
          <p:nvPr/>
        </p:nvSpPr>
        <p:spPr>
          <a:xfrm rot="0">
            <a:off x="837724" y="5345787"/>
            <a:ext cx="6357818" cy="121919"/>
          </a:xfrm>
          <a:prstGeom prst="roundRect">
            <a:avLst>
              <a:gd name="adj" fmla="val 29449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70" name="圆角矩形"/>
          <p:cNvSpPr>
            <a:spLocks/>
          </p:cNvSpPr>
          <p:nvPr/>
        </p:nvSpPr>
        <p:spPr>
          <a:xfrm rot="0">
            <a:off x="3657540" y="5017294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3872925" y="5196840"/>
            <a:ext cx="287178" cy="35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4</a:t>
            </a:r>
            <a:endParaRPr lang="zh-CN" altLang="en-US" sz="22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1107519" y="5974675"/>
            <a:ext cx="2816185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User-Friendly Design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73" name="矩形"/>
          <p:cNvSpPr>
            <a:spLocks/>
          </p:cNvSpPr>
          <p:nvPr/>
        </p:nvSpPr>
        <p:spPr>
          <a:xfrm rot="0">
            <a:off x="1107519" y="6470213"/>
            <a:ext cx="5818227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Develop a simple, intuitive interface accessible to all skill levels.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74" name="圆角矩形"/>
          <p:cNvSpPr>
            <a:spLocks/>
          </p:cNvSpPr>
          <p:nvPr/>
        </p:nvSpPr>
        <p:spPr>
          <a:xfrm rot="0">
            <a:off x="7434858" y="5376267"/>
            <a:ext cx="6357818" cy="2129789"/>
          </a:xfrm>
          <a:prstGeom prst="roundRect">
            <a:avLst>
              <a:gd name="adj" fmla="val 6870"/>
            </a:avLst>
          </a:prstGeom>
          <a:solidFill>
            <a:srgbClr val="FEF5E7"/>
          </a:solidFill>
          <a:ln w="12700" cmpd="sng" cap="flat">
            <a:noFill/>
            <a:prstDash val="solid"/>
            <a:miter/>
          </a:ln>
        </p:spPr>
      </p:sp>
      <p:sp>
        <p:nvSpPr>
          <p:cNvPr id="75" name="圆角矩形"/>
          <p:cNvSpPr>
            <a:spLocks/>
          </p:cNvSpPr>
          <p:nvPr/>
        </p:nvSpPr>
        <p:spPr>
          <a:xfrm rot="0">
            <a:off x="7434858" y="5345787"/>
            <a:ext cx="6357818" cy="121919"/>
          </a:xfrm>
          <a:prstGeom prst="roundRect">
            <a:avLst>
              <a:gd name="adj" fmla="val 29449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76" name="圆角矩形"/>
          <p:cNvSpPr>
            <a:spLocks/>
          </p:cNvSpPr>
          <p:nvPr/>
        </p:nvSpPr>
        <p:spPr>
          <a:xfrm rot="0">
            <a:off x="10254675" y="5017294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77" name="矩形"/>
          <p:cNvSpPr>
            <a:spLocks/>
          </p:cNvSpPr>
          <p:nvPr/>
        </p:nvSpPr>
        <p:spPr>
          <a:xfrm rot="0">
            <a:off x="10470059" y="5196840"/>
            <a:ext cx="287179" cy="3589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5</a:t>
            </a:r>
            <a:endParaRPr lang="zh-CN" altLang="en-US" sz="22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78" name="矩形"/>
          <p:cNvSpPr>
            <a:spLocks/>
          </p:cNvSpPr>
          <p:nvPr/>
        </p:nvSpPr>
        <p:spPr>
          <a:xfrm rot="0">
            <a:off x="7704653" y="5974675"/>
            <a:ext cx="2931795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Programming Practice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 rot="0">
            <a:off x="7704653" y="6470213"/>
            <a:ext cx="5818227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Reinforce concepts like file handling and data structures in C++.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7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482103" y="7462238"/>
            <a:ext cx="4096374" cy="691038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14527043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"/>
          <p:cNvSpPr>
            <a:spLocks/>
          </p:cNvSpPr>
          <p:nvPr/>
        </p:nvSpPr>
        <p:spPr>
          <a:xfrm rot="0">
            <a:off x="1242655" y="596384"/>
            <a:ext cx="4400312" cy="5500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Core Features</a:t>
            </a:r>
            <a:endParaRPr lang="zh-CN" altLang="en-US" sz="3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86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242655" y="1921788"/>
            <a:ext cx="7734537" cy="515493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87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511189" y="1535549"/>
            <a:ext cx="280511" cy="28051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8" name="矩形"/>
          <p:cNvSpPr>
            <a:spLocks/>
          </p:cNvSpPr>
          <p:nvPr/>
        </p:nvSpPr>
        <p:spPr>
          <a:xfrm rot="0">
            <a:off x="10048756" y="1529834"/>
            <a:ext cx="2200156" cy="2750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Add &amp; View Tasks</a:t>
            </a:r>
            <a:endParaRPr lang="zh-CN" altLang="en-US" sz="17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 rot="0">
            <a:off x="10048756" y="1950958"/>
            <a:ext cx="3346371" cy="5329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Create new tasks and display the full list instantly.</a:t>
            </a:r>
            <a:endParaRPr lang="zh-CN" altLang="en-US" sz="1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90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9511189" y="2781776"/>
            <a:ext cx="280511" cy="28051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1" name="矩形"/>
          <p:cNvSpPr>
            <a:spLocks/>
          </p:cNvSpPr>
          <p:nvPr/>
        </p:nvSpPr>
        <p:spPr>
          <a:xfrm rot="0">
            <a:off x="10048756" y="2776061"/>
            <a:ext cx="2200156" cy="2750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Mark &amp; Delete</a:t>
            </a:r>
            <a:endParaRPr lang="zh-CN" altLang="en-US" sz="17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10048756" y="3197185"/>
            <a:ext cx="3346371" cy="5329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Mark tasks as completed or remove them entirely.</a:t>
            </a:r>
            <a:endParaRPr lang="zh-CN" altLang="en-US" sz="1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93" name="图片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9511189" y="4028003"/>
            <a:ext cx="280511" cy="28051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4" name="矩形"/>
          <p:cNvSpPr>
            <a:spLocks/>
          </p:cNvSpPr>
          <p:nvPr/>
        </p:nvSpPr>
        <p:spPr>
          <a:xfrm rot="0">
            <a:off x="10048756" y="4022288"/>
            <a:ext cx="2200156" cy="27503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Edit &amp; Update</a:t>
            </a:r>
            <a:endParaRPr lang="zh-CN" altLang="en-US" sz="17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10048756" y="4443413"/>
            <a:ext cx="3346371" cy="5329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Modify existing tasks to reflect changing priorities.</a:t>
            </a:r>
            <a:endParaRPr lang="zh-CN" altLang="en-US" sz="1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96" name="图片" descr="preencode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9511189" y="5274231"/>
            <a:ext cx="280511" cy="28051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7" name="矩形"/>
          <p:cNvSpPr>
            <a:spLocks/>
          </p:cNvSpPr>
          <p:nvPr/>
        </p:nvSpPr>
        <p:spPr>
          <a:xfrm rot="0">
            <a:off x="10048756" y="5268516"/>
            <a:ext cx="2200156" cy="275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Persistent Storage</a:t>
            </a:r>
            <a:endParaRPr lang="zh-CN" altLang="en-US" sz="17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10048756" y="5689640"/>
            <a:ext cx="3346371" cy="5329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Save and reload tasks using file storage — data survives sessions.</a:t>
            </a:r>
            <a:endParaRPr lang="zh-CN" altLang="en-US" sz="1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99" name="图片" descr="preencoded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0">
            <a:off x="9511189" y="6520457"/>
            <a:ext cx="280511" cy="28051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0" name="矩形"/>
          <p:cNvSpPr>
            <a:spLocks/>
          </p:cNvSpPr>
          <p:nvPr/>
        </p:nvSpPr>
        <p:spPr>
          <a:xfrm rot="0">
            <a:off x="10048756" y="6514743"/>
            <a:ext cx="2355533" cy="2750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Menu-Driven Interface</a:t>
            </a:r>
            <a:endParaRPr lang="zh-CN" altLang="en-US" sz="17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01" name="矩形"/>
          <p:cNvSpPr>
            <a:spLocks/>
          </p:cNvSpPr>
          <p:nvPr/>
        </p:nvSpPr>
        <p:spPr>
          <a:xfrm rot="0">
            <a:off x="10048756" y="6935867"/>
            <a:ext cx="3346371" cy="5329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Navigate all options through a clean, text-based menu system.</a:t>
            </a:r>
            <a:endParaRPr lang="zh-CN" altLang="en-US" sz="14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79" name="图片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0">
            <a:off x="9501043" y="7710206"/>
            <a:ext cx="5019592" cy="413514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2274715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"/>
          <p:cNvSpPr>
            <a:spLocks/>
          </p:cNvSpPr>
          <p:nvPr/>
        </p:nvSpPr>
        <p:spPr>
          <a:xfrm rot="0">
            <a:off x="837724" y="787241"/>
            <a:ext cx="5632490" cy="7040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Data Structures Used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837724" y="1970007"/>
            <a:ext cx="12954952" cy="38302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The application leverages fundamental C++ data structures to store, organize, and persist task data efficiently.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09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37724" y="2622233"/>
            <a:ext cx="598408" cy="5984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0" name="矩形"/>
          <p:cNvSpPr>
            <a:spLocks/>
          </p:cNvSpPr>
          <p:nvPr/>
        </p:nvSpPr>
        <p:spPr>
          <a:xfrm rot="0">
            <a:off x="837724" y="3519845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Array / Vector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837724" y="4015383"/>
            <a:ext cx="6327815" cy="7889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 </a:t>
            </a: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vector</a:t>
            </a: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stores the dynamic list of all tasks, allowing easy insertion and iteration.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12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7464743" y="2622233"/>
            <a:ext cx="598407" cy="5984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3" name="矩形"/>
          <p:cNvSpPr>
            <a:spLocks/>
          </p:cNvSpPr>
          <p:nvPr/>
        </p:nvSpPr>
        <p:spPr>
          <a:xfrm rot="0">
            <a:off x="7464743" y="3519845"/>
            <a:ext cx="2816184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Structure (struct)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14" name="矩形"/>
          <p:cNvSpPr>
            <a:spLocks/>
          </p:cNvSpPr>
          <p:nvPr/>
        </p:nvSpPr>
        <p:spPr>
          <a:xfrm rot="0">
            <a:off x="7464743" y="4015383"/>
            <a:ext cx="6327934" cy="7889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Each task is a </a:t>
            </a: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struct</a:t>
            </a: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containing title, completion status, and date.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15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837724" y="5283041"/>
            <a:ext cx="598408" cy="5984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6" name="矩形"/>
          <p:cNvSpPr>
            <a:spLocks/>
          </p:cNvSpPr>
          <p:nvPr/>
        </p:nvSpPr>
        <p:spPr>
          <a:xfrm rot="0">
            <a:off x="837724" y="6180653"/>
            <a:ext cx="2816185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File Handling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17" name="矩形"/>
          <p:cNvSpPr>
            <a:spLocks/>
          </p:cNvSpPr>
          <p:nvPr/>
        </p:nvSpPr>
        <p:spPr>
          <a:xfrm rot="0">
            <a:off x="837724" y="6676192"/>
            <a:ext cx="6327815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Tasks are written to and read from files, ensuring data persists across sessions.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18" name="图片" descr="preencod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0">
            <a:off x="7464743" y="5283041"/>
            <a:ext cx="598407" cy="59840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19" name="矩形"/>
          <p:cNvSpPr>
            <a:spLocks/>
          </p:cNvSpPr>
          <p:nvPr/>
        </p:nvSpPr>
        <p:spPr>
          <a:xfrm rot="0">
            <a:off x="7464743" y="6180653"/>
            <a:ext cx="2816184" cy="3519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String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 rot="0">
            <a:off x="7464743" y="6676192"/>
            <a:ext cx="6327934" cy="766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Standard string objects handle task titles and descriptions flexibly.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80" name="图片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0">
            <a:off x="8710480" y="7667515"/>
            <a:ext cx="5847035" cy="46671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688507479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"/>
          <p:cNvSpPr>
            <a:spLocks/>
          </p:cNvSpPr>
          <p:nvPr/>
        </p:nvSpPr>
        <p:spPr>
          <a:xfrm rot="0">
            <a:off x="798552" y="641033"/>
            <a:ext cx="5368408" cy="6710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Algorithm Flow</a:t>
            </a:r>
            <a:endParaRPr lang="zh-CN" altLang="en-US" sz="4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27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085612" y="1746885"/>
            <a:ext cx="12459176" cy="488441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28" name="矩形"/>
          <p:cNvSpPr>
            <a:spLocks/>
          </p:cNvSpPr>
          <p:nvPr/>
        </p:nvSpPr>
        <p:spPr>
          <a:xfrm rot="0">
            <a:off x="1383762" y="1986427"/>
            <a:ext cx="2280809" cy="3447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Display Menu</a:t>
            </a:r>
            <a:endParaRPr lang="zh-CN" altLang="en-US" sz="21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29" name="矩形"/>
          <p:cNvSpPr>
            <a:spLocks/>
          </p:cNvSpPr>
          <p:nvPr/>
        </p:nvSpPr>
        <p:spPr>
          <a:xfrm rot="0">
            <a:off x="10965603" y="1986427"/>
            <a:ext cx="2280808" cy="6895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Accept User Choice</a:t>
            </a:r>
            <a:endParaRPr lang="zh-CN" altLang="en-US" sz="21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 rot="0">
            <a:off x="10965603" y="5702109"/>
            <a:ext cx="2280808" cy="68953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Perform Operation</a:t>
            </a:r>
            <a:endParaRPr lang="zh-CN" altLang="en-US" sz="21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1383762" y="6046878"/>
            <a:ext cx="2280809" cy="3447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Save &amp; Repeat</a:t>
            </a:r>
            <a:endParaRPr lang="zh-CN" altLang="en-US" sz="21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32" name="矩形"/>
          <p:cNvSpPr>
            <a:spLocks/>
          </p:cNvSpPr>
          <p:nvPr/>
        </p:nvSpPr>
        <p:spPr>
          <a:xfrm rot="0">
            <a:off x="798552" y="6875859"/>
            <a:ext cx="13033296" cy="7127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The program runs in a continuous loop, presenting the menu, executing the chosen operation, and saving changes to disk — only stopping when the user selects Exit.</a:t>
            </a:r>
            <a:endParaRPr lang="zh-CN" altLang="en-US" sz="17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81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10120158" y="7678998"/>
            <a:ext cx="4483418" cy="49332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430020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"/>
          <p:cNvSpPr>
            <a:spLocks/>
          </p:cNvSpPr>
          <p:nvPr/>
        </p:nvSpPr>
        <p:spPr>
          <a:xfrm rot="0">
            <a:off x="733068" y="658654"/>
            <a:ext cx="4928354" cy="61591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4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85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Code Overview</a:t>
            </a:r>
            <a:endParaRPr lang="zh-CN" altLang="en-US" sz="3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39" name="矩形"/>
          <p:cNvSpPr>
            <a:spLocks/>
          </p:cNvSpPr>
          <p:nvPr/>
        </p:nvSpPr>
        <p:spPr>
          <a:xfrm rot="0">
            <a:off x="733068" y="1732597"/>
            <a:ext cx="2706053" cy="308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Language &amp; Core Types</a:t>
            </a:r>
            <a:endParaRPr lang="zh-CN" altLang="en-US" sz="19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733068" y="2223849"/>
            <a:ext cx="4275296" cy="97274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Built entirely in </a:t>
            </a:r>
            <a:r>
              <a:rPr lang="en-US" altLang="zh-CN" sz="1600" b="1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C++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, the program uses a 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struct Task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to hold task details and a 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vector&lt;Task&gt;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to manage the full list dynamically.</a:t>
            </a:r>
            <a:endParaRPr lang="zh-CN" altLang="en-US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733068" y="3379827"/>
            <a:ext cx="2464118" cy="3080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Key Functions</a:t>
            </a:r>
            <a:endParaRPr lang="zh-CN" altLang="en-US" sz="19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2" name="矩形"/>
          <p:cNvSpPr>
            <a:spLocks/>
          </p:cNvSpPr>
          <p:nvPr/>
        </p:nvSpPr>
        <p:spPr>
          <a:xfrm rot="0">
            <a:off x="733068" y="3871079"/>
            <a:ext cx="4275296" cy="22169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addTask()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— Create a new task</a:t>
            </a:r>
            <a:endParaRPr lang="en-US" altLang="zh-CN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  <a:p>
            <a:pPr marL="342900" indent="-34290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viewTasks()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— Display all tasks</a:t>
            </a:r>
            <a:endParaRPr lang="en-US" altLang="zh-CN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  <a:p>
            <a:pPr marL="342900" indent="-34290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deleteTask()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— Remove a task</a:t>
            </a:r>
            <a:endParaRPr lang="en-US" altLang="zh-CN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  <a:p>
            <a:pPr marL="342900" indent="-34290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updateTask()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— Edit existing task</a:t>
            </a:r>
            <a:endParaRPr lang="en-US" altLang="zh-CN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  <a:p>
            <a:pPr marL="342900" indent="-34290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saveToFile() / loadFromFile()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— Persist data</a:t>
            </a:r>
            <a:endParaRPr lang="zh-CN" altLang="en-US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733068" y="6271260"/>
            <a:ext cx="2464118" cy="3080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Control Flow</a:t>
            </a:r>
            <a:endParaRPr lang="zh-CN" altLang="en-US" sz="19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44" name="矩形"/>
          <p:cNvSpPr>
            <a:spLocks/>
          </p:cNvSpPr>
          <p:nvPr/>
        </p:nvSpPr>
        <p:spPr>
          <a:xfrm rot="0">
            <a:off x="733068" y="6762512"/>
            <a:ext cx="4275296" cy="6434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 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switch-case</a:t>
            </a:r>
            <a:r>
              <a:rPr lang="en-US" altLang="zh-CN" sz="16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 inside a loop drives the menu, routing each user choice to the correct function.</a:t>
            </a:r>
            <a:endParaRPr lang="zh-CN" altLang="en-US" sz="16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45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527000" y="1768197"/>
            <a:ext cx="8377833" cy="558367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182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920027" y="7786735"/>
            <a:ext cx="5655950" cy="37606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2113701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"/>
          <p:cNvSpPr>
            <a:spLocks/>
          </p:cNvSpPr>
          <p:nvPr/>
        </p:nvSpPr>
        <p:spPr>
          <a:xfrm rot="0">
            <a:off x="1121212" y="528161"/>
            <a:ext cx="4488299" cy="5610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5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Sample Output</a:t>
            </a:r>
            <a:endParaRPr lang="zh-CN" altLang="en-US" sz="35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52" name="矩形"/>
          <p:cNvSpPr>
            <a:spLocks/>
          </p:cNvSpPr>
          <p:nvPr/>
        </p:nvSpPr>
        <p:spPr>
          <a:xfrm rot="0">
            <a:off x="1121212" y="1393150"/>
            <a:ext cx="12387858" cy="2740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A live demonstration of the menu-driven interface in action:</a:t>
            </a:r>
            <a:endParaRPr lang="zh-CN" altLang="en-US" sz="15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53" name="圆角矩形"/>
          <p:cNvSpPr>
            <a:spLocks/>
          </p:cNvSpPr>
          <p:nvPr/>
        </p:nvSpPr>
        <p:spPr>
          <a:xfrm rot="0">
            <a:off x="1121212" y="1838206"/>
            <a:ext cx="12387858" cy="5863113"/>
          </a:xfrm>
          <a:prstGeom prst="roundRect">
            <a:avLst>
              <a:gd name="adj" fmla="val 486"/>
            </a:avLst>
          </a:prstGeom>
          <a:solidFill>
            <a:srgbClr val="F1E8DA"/>
          </a:solidFill>
          <a:ln w="12700" cmpd="sng" cap="flat">
            <a:noFill/>
            <a:prstDash val="solid"/>
            <a:miter/>
          </a:ln>
        </p:spPr>
      </p:sp>
      <p:sp>
        <p:nvSpPr>
          <p:cNvPr id="154" name="圆角矩形"/>
          <p:cNvSpPr>
            <a:spLocks/>
          </p:cNvSpPr>
          <p:nvPr/>
        </p:nvSpPr>
        <p:spPr>
          <a:xfrm rot="0">
            <a:off x="1111687" y="1838206"/>
            <a:ext cx="12406908" cy="5863113"/>
          </a:xfrm>
          <a:prstGeom prst="roundRect">
            <a:avLst>
              <a:gd name="adj" fmla="val 486"/>
            </a:avLst>
          </a:prstGeom>
          <a:solidFill>
            <a:srgbClr val="F1E8DA"/>
          </a:solidFill>
          <a:ln w="12700" cmpd="sng" cap="flat">
            <a:noFill/>
            <a:prstDash val="solid"/>
            <a:miter/>
          </a:ln>
        </p:spPr>
      </p:sp>
      <p:sp>
        <p:nvSpPr>
          <p:cNvPr id="155" name="矩形"/>
          <p:cNvSpPr>
            <a:spLocks/>
          </p:cNvSpPr>
          <p:nvPr/>
        </p:nvSpPr>
        <p:spPr>
          <a:xfrm rot="0">
            <a:off x="1350050" y="2028943"/>
            <a:ext cx="11930182" cy="548163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0" cap="none" spc="0" baseline="0">
                <a:solidFill>
                  <a:srgbClr val="3A3630"/>
                </a:solidFill>
                <a:latin typeface="Consolas" pitchFamily="34" charset="0"/>
                <a:ea typeface="Consolas" pitchFamily="34" charset="0"/>
                <a:cs typeface="Consolas" pitchFamily="34" charset="0"/>
              </a:rPr>
              <a:t>------ TO-DO LIST MANAGER ------
1. Add Task
2. View Tasks
3. Mark Task Complete
4. Delete Task
5. Exit
Enter choice: 1
Enter task: Complete assignment
Task added successfully!
Enter choice: 2
1. Complete assignment [Pending]
Enter choice: 3
Enter task number: 1
Task marked as completed!
1. Complete assignment [Done]
</a:t>
            </a:r>
            <a:endParaRPr lang="zh-CN" altLang="en-US" sz="15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8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920027" y="7816275"/>
            <a:ext cx="5609972" cy="365575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7843844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"/>
          <p:cNvSpPr>
            <a:spLocks/>
          </p:cNvSpPr>
          <p:nvPr/>
        </p:nvSpPr>
        <p:spPr>
          <a:xfrm rot="0">
            <a:off x="837724" y="818317"/>
            <a:ext cx="7105531" cy="7040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Future Scope &amp; Conclusion</a:t>
            </a:r>
            <a:endParaRPr lang="zh-CN" altLang="en-US" sz="44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2" name="矩形"/>
          <p:cNvSpPr>
            <a:spLocks/>
          </p:cNvSpPr>
          <p:nvPr/>
        </p:nvSpPr>
        <p:spPr>
          <a:xfrm rot="0">
            <a:off x="837724" y="2120622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38512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What's Next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3" name="圆角矩形"/>
          <p:cNvSpPr>
            <a:spLocks/>
          </p:cNvSpPr>
          <p:nvPr/>
        </p:nvSpPr>
        <p:spPr>
          <a:xfrm rot="0">
            <a:off x="837724" y="2741770"/>
            <a:ext cx="2973109" cy="2639496"/>
          </a:xfrm>
          <a:prstGeom prst="roundRect">
            <a:avLst>
              <a:gd name="adj" fmla="val 1361"/>
            </a:avLst>
          </a:prstGeom>
          <a:solidFill>
            <a:srgbClr val="FEF5E7"/>
          </a:solidFill>
          <a:ln w="30480" cmpd="sng" cap="flat">
            <a:solidFill>
              <a:srgbClr val="D9CDBA"/>
            </a:solidFill>
            <a:prstDash val="solid"/>
            <a:round/>
          </a:ln>
        </p:spPr>
      </p:sp>
      <p:sp>
        <p:nvSpPr>
          <p:cNvPr id="164" name="矩形"/>
          <p:cNvSpPr>
            <a:spLocks/>
          </p:cNvSpPr>
          <p:nvPr/>
        </p:nvSpPr>
        <p:spPr>
          <a:xfrm rot="0">
            <a:off x="1107519" y="3011566"/>
            <a:ext cx="2433518" cy="7115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u="none" strike="noStrike" kern="0" cap="none" spc="0" baseline="0">
                <a:solidFill>
                  <a:srgbClr val="00000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🖥</a:t>
            </a: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 GUI &amp; Mobile App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5" name="矩形"/>
          <p:cNvSpPr>
            <a:spLocks/>
          </p:cNvSpPr>
          <p:nvPr/>
        </p:nvSpPr>
        <p:spPr>
          <a:xfrm rot="0">
            <a:off x="1107519" y="3962400"/>
            <a:ext cx="2433518" cy="11490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Replace the console with a graphical or mobile interface.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6" name="圆角矩形"/>
          <p:cNvSpPr>
            <a:spLocks/>
          </p:cNvSpPr>
          <p:nvPr/>
        </p:nvSpPr>
        <p:spPr>
          <a:xfrm rot="0">
            <a:off x="4050149" y="2741770"/>
            <a:ext cx="2973109" cy="2639496"/>
          </a:xfrm>
          <a:prstGeom prst="roundRect">
            <a:avLst>
              <a:gd name="adj" fmla="val 1361"/>
            </a:avLst>
          </a:prstGeom>
          <a:solidFill>
            <a:srgbClr val="FEF5E7"/>
          </a:solidFill>
          <a:ln w="30480" cmpd="sng" cap="flat">
            <a:solidFill>
              <a:srgbClr val="D9CDBA"/>
            </a:solidFill>
            <a:prstDash val="solid"/>
            <a:round/>
          </a:ln>
        </p:spPr>
      </p:sp>
      <p:sp>
        <p:nvSpPr>
          <p:cNvPr id="167" name="矩形"/>
          <p:cNvSpPr>
            <a:spLocks/>
          </p:cNvSpPr>
          <p:nvPr/>
        </p:nvSpPr>
        <p:spPr>
          <a:xfrm rot="0">
            <a:off x="4319945" y="3011566"/>
            <a:ext cx="2433518" cy="71151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00000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☁</a:t>
            </a: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 Cloud &amp; Reminders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8" name="矩形"/>
          <p:cNvSpPr>
            <a:spLocks/>
          </p:cNvSpPr>
          <p:nvPr/>
        </p:nvSpPr>
        <p:spPr>
          <a:xfrm rot="0">
            <a:off x="4319945" y="3962400"/>
            <a:ext cx="2433518" cy="11490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Sync tasks across devices and add notifications.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69" name="圆角矩形"/>
          <p:cNvSpPr>
            <a:spLocks/>
          </p:cNvSpPr>
          <p:nvPr/>
        </p:nvSpPr>
        <p:spPr>
          <a:xfrm rot="0">
            <a:off x="837724" y="5620583"/>
            <a:ext cx="6185535" cy="1521500"/>
          </a:xfrm>
          <a:prstGeom prst="roundRect">
            <a:avLst>
              <a:gd name="adj" fmla="val 2361"/>
            </a:avLst>
          </a:prstGeom>
          <a:solidFill>
            <a:srgbClr val="FEF5E7"/>
          </a:solidFill>
          <a:ln w="30480" cmpd="sng" cap="flat">
            <a:solidFill>
              <a:srgbClr val="D9CDBA"/>
            </a:solidFill>
            <a:prstDash val="solid"/>
            <a:round/>
          </a:ln>
        </p:spPr>
      </p:sp>
      <p:sp>
        <p:nvSpPr>
          <p:cNvPr id="170" name="矩形"/>
          <p:cNvSpPr>
            <a:spLocks/>
          </p:cNvSpPr>
          <p:nvPr/>
        </p:nvSpPr>
        <p:spPr>
          <a:xfrm rot="0">
            <a:off x="1107519" y="5890379"/>
            <a:ext cx="3052643" cy="3595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u="none" strike="noStrike" kern="0" cap="none" spc="0" baseline="0">
                <a:solidFill>
                  <a:srgbClr val="00000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📅</a:t>
            </a:r>
            <a:r>
              <a:rPr lang="en-US" altLang="zh-CN" sz="2200" b="0" i="0" u="none" strike="noStrike" kern="0" cap="none" spc="0" baseline="0">
                <a:solidFill>
                  <a:srgbClr val="3A3630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 Priority &amp; Deadlines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1107519" y="6489262"/>
            <a:ext cx="5645943" cy="3830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3A3630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Sort by urgency and track due dates with a calendar.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72" name="圆角矩形"/>
          <p:cNvSpPr>
            <a:spLocks/>
          </p:cNvSpPr>
          <p:nvPr/>
        </p:nvSpPr>
        <p:spPr>
          <a:xfrm rot="0">
            <a:off x="7442478" y="1881307"/>
            <a:ext cx="6530102" cy="5529977"/>
          </a:xfrm>
          <a:prstGeom prst="roundRect">
            <a:avLst>
              <a:gd name="adj" fmla="val 648"/>
            </a:avLst>
          </a:prstGeom>
          <a:solidFill>
            <a:srgbClr val="38512F"/>
          </a:solidFill>
          <a:ln w="12700" cmpd="sng" cap="flat">
            <a:noFill/>
            <a:prstDash val="solid"/>
            <a:miter/>
          </a:ln>
        </p:spPr>
      </p:sp>
      <p:sp>
        <p:nvSpPr>
          <p:cNvPr id="173" name="矩形"/>
          <p:cNvSpPr>
            <a:spLocks/>
          </p:cNvSpPr>
          <p:nvPr/>
        </p:nvSpPr>
        <p:spPr>
          <a:xfrm rot="0">
            <a:off x="7681793" y="2120622"/>
            <a:ext cx="2816185" cy="35194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0" cap="none" spc="0" baseline="0">
                <a:solidFill>
                  <a:srgbClr val="FFFFFF"/>
                </a:solidFill>
                <a:latin typeface="Lora" pitchFamily="34" charset="0"/>
                <a:ea typeface="Lora" pitchFamily="34" charset="0"/>
                <a:cs typeface="Lora" pitchFamily="34" charset="0"/>
              </a:rPr>
              <a:t>Conclusion</a:t>
            </a:r>
            <a:endParaRPr lang="zh-CN" altLang="en-US" sz="220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7681793" y="2711887"/>
            <a:ext cx="6051471" cy="19151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0" cap="none" spc="0" baseline="0">
                <a:solidFill>
                  <a:srgbClr val="FFFFFF"/>
                </a:solidFill>
                <a:latin typeface="Source Sans 3" pitchFamily="34" charset="0"/>
                <a:ea typeface="Source Sans 3" pitchFamily="34" charset="0"/>
                <a:cs typeface="Source Sans 3" pitchFamily="34" charset="0"/>
              </a:rPr>
              <a:t>The To-Do List Manager is a practical, beginner-friendly project that demonstrates key C++ concepts — data structures, file handling, and user interaction — in a real-world context. It provides a solid foundation for building more advanced productivity tools.</a:t>
            </a:r>
            <a:endParaRPr lang="zh-CN" altLang="en-US" sz="1850" b="0" i="0" u="none" strike="noStrike" kern="0" cap="none" spc="0" baseline="0">
              <a:latin typeface="Droid Sans"/>
              <a:ea typeface="Droid Sans"/>
              <a:cs typeface="Lucida Sans"/>
            </a:endParaRPr>
          </a:p>
        </p:txBody>
      </p:sp>
      <p:pic>
        <p:nvPicPr>
          <p:cNvPr id="18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8948601" y="7685572"/>
            <a:ext cx="5678131" cy="429603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64759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7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1</cp:revision>
  <dcterms:created xsi:type="dcterms:W3CDTF">2026-04-15T13:30:59Z</dcterms:created>
  <dcterms:modified xsi:type="dcterms:W3CDTF">2026-04-15T11:08:22Z</dcterms:modified>
</cp:coreProperties>
</file>